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9" r:id="rId4"/>
    <p:sldId id="258" r:id="rId5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3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DBD3"/>
    <a:srgbClr val="E6E3D0"/>
    <a:srgbClr val="E1DEC5"/>
    <a:srgbClr val="8F6D58"/>
    <a:srgbClr val="906D58"/>
    <a:srgbClr val="EDE7E3"/>
    <a:srgbClr val="EAE3DE"/>
    <a:srgbClr val="E2D7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27" d="100"/>
          <a:sy n="127" d="100"/>
        </p:scale>
        <p:origin x="1164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40"/>
    </p:cViewPr>
  </p:sorterViewPr>
  <p:notesViewPr>
    <p:cSldViewPr>
      <p:cViewPr varScale="1">
        <p:scale>
          <a:sx n="58" d="100"/>
          <a:sy n="58" d="100"/>
        </p:scale>
        <p:origin x="-1812" y="-72"/>
      </p:cViewPr>
      <p:guideLst>
        <p:guide orient="horz" pos="3023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AE1DD22C-B50F-4B95-8730-64221F9BA8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54" tIns="48227" rIns="96454" bIns="48227" numCol="1" anchor="t" anchorCtr="0" compatLnSpc="1">
            <a:prstTxWarp prst="textNoShape">
              <a:avLst/>
            </a:prstTxWarp>
          </a:bodyPr>
          <a:lstStyle>
            <a:lvl1pPr defTabSz="963613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05321CA2-D960-4661-AC26-4911218B9C7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54" tIns="48227" rIns="96454" bIns="48227" numCol="1" anchor="t" anchorCtr="0" compatLnSpc="1">
            <a:prstTxWarp prst="textNoShape">
              <a:avLst/>
            </a:prstTxWarp>
          </a:bodyPr>
          <a:lstStyle>
            <a:lvl1pPr algn="r" defTabSz="963613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8612" name="Rectangle 4">
            <a:extLst>
              <a:ext uri="{FF2B5EF4-FFF2-40B4-BE49-F238E27FC236}">
                <a16:creationId xmlns:a16="http://schemas.microsoft.com/office/drawing/2014/main" id="{F65B23CF-FF49-45EB-A54D-140BC95470C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54" tIns="48227" rIns="96454" bIns="48227" numCol="1" anchor="b" anchorCtr="0" compatLnSpc="1">
            <a:prstTxWarp prst="textNoShape">
              <a:avLst/>
            </a:prstTxWarp>
          </a:bodyPr>
          <a:lstStyle>
            <a:lvl1pPr defTabSz="963613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CE52F416-20D9-495C-80A6-E3E319CF8843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454" tIns="48227" rIns="96454" bIns="48227" numCol="1" anchor="b" anchorCtr="0" compatLnSpc="1">
            <a:prstTxWarp prst="textNoShape">
              <a:avLst/>
            </a:prstTxWarp>
          </a:bodyPr>
          <a:lstStyle>
            <a:lvl1pPr algn="r" defTabSz="963613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fld id="{330E4239-7CD0-4DAA-8E4D-4C7AA7081DC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727280D4-47DA-4C02-92F2-D9F8E5B3E5C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67063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87" tIns="48193" rIns="96387" bIns="48193" numCol="1" anchor="t" anchorCtr="0" compatLnSpc="1">
            <a:prstTxWarp prst="textNoShape">
              <a:avLst/>
            </a:prstTxWarp>
          </a:bodyPr>
          <a:lstStyle>
            <a:lvl1pPr defTabSz="963613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337ED92F-26C2-4B4D-B727-C064B4942E5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1788" y="0"/>
            <a:ext cx="3167062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87" tIns="48193" rIns="96387" bIns="48193" numCol="1" anchor="t" anchorCtr="0" compatLnSpc="1">
            <a:prstTxWarp prst="textNoShape">
              <a:avLst/>
            </a:prstTxWarp>
          </a:bodyPr>
          <a:lstStyle>
            <a:lvl1pPr algn="r" defTabSz="963613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1F2A8773-494F-4DA8-B593-6E3A8FAB9DF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5713" y="719138"/>
            <a:ext cx="4795837" cy="3597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9637" name="Rectangle 5">
            <a:extLst>
              <a:ext uri="{FF2B5EF4-FFF2-40B4-BE49-F238E27FC236}">
                <a16:creationId xmlns:a16="http://schemas.microsoft.com/office/drawing/2014/main" id="{1D9DEDE2-F0E6-4047-883C-1ACC1691F9E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138" y="4557713"/>
            <a:ext cx="5360987" cy="431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87" tIns="48193" rIns="96387" bIns="4819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69638" name="Rectangle 6">
            <a:extLst>
              <a:ext uri="{FF2B5EF4-FFF2-40B4-BE49-F238E27FC236}">
                <a16:creationId xmlns:a16="http://schemas.microsoft.com/office/drawing/2014/main" id="{638D16BD-4827-4D51-8470-B40E8963AD4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15425"/>
            <a:ext cx="3167063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87" tIns="48193" rIns="96387" bIns="48193" numCol="1" anchor="b" anchorCtr="0" compatLnSpc="1">
            <a:prstTxWarp prst="textNoShape">
              <a:avLst/>
            </a:prstTxWarp>
          </a:bodyPr>
          <a:lstStyle>
            <a:lvl1pPr defTabSz="963613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9639" name="Rectangle 7">
            <a:extLst>
              <a:ext uri="{FF2B5EF4-FFF2-40B4-BE49-F238E27FC236}">
                <a16:creationId xmlns:a16="http://schemas.microsoft.com/office/drawing/2014/main" id="{EB7B9414-D917-4EF5-A4B7-A9457D0E95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1788" y="9115425"/>
            <a:ext cx="3167062" cy="479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387" tIns="48193" rIns="96387" bIns="48193" numCol="1" anchor="b" anchorCtr="0" compatLnSpc="1">
            <a:prstTxWarp prst="textNoShape">
              <a:avLst/>
            </a:prstTxWarp>
          </a:bodyPr>
          <a:lstStyle>
            <a:lvl1pPr algn="r" defTabSz="963613" eaLnBrk="1" hangingPunct="1">
              <a:defRPr sz="1300">
                <a:latin typeface="Times New Roman" panose="02020603050405020304" pitchFamily="18" charset="0"/>
              </a:defRPr>
            </a:lvl1pPr>
          </a:lstStyle>
          <a:p>
            <a:fld id="{B5F61765-325B-456D-9D15-AC6BEBDBA39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4ABCC6E2-3A0F-403B-B796-D6DED52318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A085344C-84D2-4D34-9EFE-3236C0952327}" type="slidenum">
              <a:rPr lang="en-US" altLang="en-US" sz="1300">
                <a:latin typeface="Times New Roman" panose="02020603050405020304" pitchFamily="18" charset="0"/>
              </a:rPr>
              <a:pPr/>
              <a:t>1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D317CC0D-3824-4A22-B067-78E2C1E050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EDAD4E9C-A64E-4FCB-B5BD-6E78B336D3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E89F9001-EEF2-490B-B067-D95D913112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19D5D1F8-02BC-441E-A62C-6418FF2A94CA}" type="slidenum">
              <a:rPr lang="en-US" altLang="en-US" sz="1300">
                <a:latin typeface="Times New Roman" panose="02020603050405020304" pitchFamily="18" charset="0"/>
              </a:rPr>
              <a:pPr/>
              <a:t>2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F337CA51-E732-465F-9452-293CCA86FD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3759A6D0-45E5-4A39-843B-CDE5E22FDF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DA347DD-D774-45AC-9EF5-E60BECB3CD4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E4E966AA-8FA0-48CE-BB0D-ED7138465977}" type="slidenum">
              <a:rPr lang="en-US" altLang="en-US" sz="1300">
                <a:latin typeface="Times New Roman" panose="02020603050405020304" pitchFamily="18" charset="0"/>
              </a:rPr>
              <a:pPr/>
              <a:t>3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B23ED161-8688-4073-BE82-733760FBD4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4509D69E-F070-470C-81EC-1299C22873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995C9903-7C5F-4304-90CF-820EA9AE79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defTabSz="963613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fld id="{9D5A9F1E-4279-43F0-A128-7703BE2FE97F}" type="slidenum">
              <a:rPr lang="en-US" altLang="en-US" sz="1300">
                <a:latin typeface="Times New Roman" panose="02020603050405020304" pitchFamily="18" charset="0"/>
              </a:rPr>
              <a:pPr/>
              <a:t>4</a:t>
            </a:fld>
            <a:endParaRPr lang="en-US" altLang="en-US" sz="1300">
              <a:latin typeface="Times New Roman" panose="02020603050405020304" pitchFamily="18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9EA3F41-71A9-477C-B392-06A92B6ED2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130B3A77-C72D-4D5A-B9DB-F24A6BD168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026">
            <a:extLst>
              <a:ext uri="{FF2B5EF4-FFF2-40B4-BE49-F238E27FC236}">
                <a16:creationId xmlns:a16="http://schemas.microsoft.com/office/drawing/2014/main" id="{FEA669CE-1541-4886-8FB6-DB9FAFB14D9C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1027">
              <a:extLst>
                <a:ext uri="{FF2B5EF4-FFF2-40B4-BE49-F238E27FC236}">
                  <a16:creationId xmlns:a16="http://schemas.microsoft.com/office/drawing/2014/main" id="{4EE22D63-D0A2-4E2C-9268-8B406EEE3C3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1028">
                <a:extLst>
                  <a:ext uri="{FF2B5EF4-FFF2-40B4-BE49-F238E27FC236}">
                    <a16:creationId xmlns:a16="http://schemas.microsoft.com/office/drawing/2014/main" id="{987B1360-DE87-499C-9901-F7F93B8078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3" name="Rectangle 1029">
                <a:extLst>
                  <a:ext uri="{FF2B5EF4-FFF2-40B4-BE49-F238E27FC236}">
                    <a16:creationId xmlns:a16="http://schemas.microsoft.com/office/drawing/2014/main" id="{F91AFC64-72F4-4CA6-8849-4D2DEF985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grpSp>
          <p:nvGrpSpPr>
            <p:cNvPr id="6" name="Group 1030">
              <a:extLst>
                <a:ext uri="{FF2B5EF4-FFF2-40B4-BE49-F238E27FC236}">
                  <a16:creationId xmlns:a16="http://schemas.microsoft.com/office/drawing/2014/main" id="{66138634-97D8-4AFD-9003-41B234A3DD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1031">
                <a:extLst>
                  <a:ext uri="{FF2B5EF4-FFF2-40B4-BE49-F238E27FC236}">
                    <a16:creationId xmlns:a16="http://schemas.microsoft.com/office/drawing/2014/main" id="{BDF09862-0D6F-4C6B-8CE2-9B5FCAC35A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  <p:sp>
            <p:nvSpPr>
              <p:cNvPr id="11" name="Rectangle 1032">
                <a:extLst>
                  <a:ext uri="{FF2B5EF4-FFF2-40B4-BE49-F238E27FC236}">
                    <a16:creationId xmlns:a16="http://schemas.microsoft.com/office/drawing/2014/main" id="{476362A5-9794-4631-9C15-033B9AC914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>
                  <a:defRPr/>
                </a:pPr>
                <a:endParaRPr lang="en-US" altLang="en-US"/>
              </a:p>
            </p:txBody>
          </p:sp>
        </p:grpSp>
        <p:sp>
          <p:nvSpPr>
            <p:cNvPr id="7" name="Rectangle 1033">
              <a:extLst>
                <a:ext uri="{FF2B5EF4-FFF2-40B4-BE49-F238E27FC236}">
                  <a16:creationId xmlns:a16="http://schemas.microsoft.com/office/drawing/2014/main" id="{77EDC022-DBF1-4484-AF17-6E8983ECA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8" name="Rectangle 1034">
              <a:extLst>
                <a:ext uri="{FF2B5EF4-FFF2-40B4-BE49-F238E27FC236}">
                  <a16:creationId xmlns:a16="http://schemas.microsoft.com/office/drawing/2014/main" id="{BBEBB62C-4F77-4CCB-90E3-B104253E05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9" name="Rectangle 1035">
              <a:extLst>
                <a:ext uri="{FF2B5EF4-FFF2-40B4-BE49-F238E27FC236}">
                  <a16:creationId xmlns:a16="http://schemas.microsoft.com/office/drawing/2014/main" id="{96B4429F-D736-4770-B2AF-6D645DD73FE5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72716" name="Rectangle 1036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72717" name="Rectangle 103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14" name="Rectangle 1038">
            <a:extLst>
              <a:ext uri="{FF2B5EF4-FFF2-40B4-BE49-F238E27FC236}">
                <a16:creationId xmlns:a16="http://schemas.microsoft.com/office/drawing/2014/main" id="{AED55177-2A8E-4432-94B8-80DF52CE20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5" name="Rectangle 1039">
            <a:extLst>
              <a:ext uri="{FF2B5EF4-FFF2-40B4-BE49-F238E27FC236}">
                <a16:creationId xmlns:a16="http://schemas.microsoft.com/office/drawing/2014/main" id="{C567F82D-2A29-4827-BC1B-B1C03DF4DF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6" name="Rectangle 1040">
            <a:extLst>
              <a:ext uri="{FF2B5EF4-FFF2-40B4-BE49-F238E27FC236}">
                <a16:creationId xmlns:a16="http://schemas.microsoft.com/office/drawing/2014/main" id="{3685A0D5-618F-4D4E-93D5-7343736DB4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E87C8102-D093-4BE7-BE0A-920B2399CBC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287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8F5DEEB-7B27-4F42-B523-E941858CCB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BA302D8E-331E-4A15-950A-915575FD3B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91401C17-DC67-4353-B5E0-976ACB6A4A8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617C78-ED16-40BF-A994-ACC52BB553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70492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D043BAE5-1579-4AB4-9DDA-641976E22D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179058F-5F46-432B-A40F-D07D6EF29B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323573F7-5DFD-43EA-AE5E-ECF2978D30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46BC5E3-1E47-4731-8B4F-C49B6BE757C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46515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5E77C823-B891-4674-ACCF-1C44C4493B8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F3DF8BA-C1F9-4D6F-B90D-389441F017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409D3EC-4C74-442F-84A3-F0213C31F2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6E73D6-801D-44CC-BE2A-E6C701F2BC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7680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95CC52D-DF25-49FA-A1EA-F09763E3AF7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53FDF2A2-DA34-49AD-A5D2-5B6B826FB2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673BD5EB-4B92-4B64-AFDE-07854F92FF4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8127CD0-8194-42F5-86A0-BE115CD84F7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1556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E1A15291-5EB8-4CDB-9751-1180918F2C0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DC681E8-0104-43C4-86DA-556CEA674C3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59CBC11B-D8BC-46E3-B749-9D5E194E06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77D1C5-171B-4873-954A-780182D5DBD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8452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B1F1374A-A0C2-4319-81AD-F81325A2F6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2423DBCD-7D67-4511-A81D-CEE15CCBA3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6D19E40-55D8-4313-9C89-7E0BF5BBCF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DD998A-06E5-4716-BB03-C132F3461F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41658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62B5FFB-F703-40B2-884D-6637141B942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AD176903-8BA1-4CC4-B6A8-0816CB0F61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66A2EF4F-5DDA-46A7-85FE-5908FCDE8C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763F94-723C-4CBE-B84E-29E6B71236D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809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18E0A6A-2BCD-4529-9A8A-11EAF7889C4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A9992DC-4DB3-4810-889E-6A0C14235E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FB9CB746-90A9-4BF7-82AC-8EE103FDD90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6E66DD-931B-436E-A5AB-50D0CB926E0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1765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198E171-A6EA-4672-91A8-4B6217A15B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4794C0C7-D19B-42EA-B72C-0A5EED74F5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8106B30C-3679-4CB6-B2F1-9386ABFB23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0FFC07-D124-4AB5-8F8A-3AF86BFA6EB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875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1363E2D-3A77-4340-818F-CD0B50BA6F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D829A85-BDDD-4432-BC30-8AF41FF4B0A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14C590C-F1BC-4041-9630-1BA4E31FFB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F7595B-2DB3-4EB9-A0CA-48D5A893591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317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A827CFC-7D23-4EA0-BA6E-1BCF818905BD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3C958D2-D2BC-4EF4-BE2C-93225353217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C47396C-D88D-43A5-A410-C324F3D2347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53F7B8A-4F8B-47FB-B6B7-1DFEF58348B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2ED48A5-E775-4A28-AAF4-235D75D7539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FBEC30A-6149-4BCB-B94C-CDDE60FCA3E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DCC97C15-5D33-4633-8EB3-08D9D5E7B04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kumimoji="1" lang="en-US" alt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3332CF7E-BA57-4C8B-9894-B89E057966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084B468-C728-4AE7-8779-F2987278F3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691" name="Rectangle 11">
            <a:extLst>
              <a:ext uri="{FF2B5EF4-FFF2-40B4-BE49-F238E27FC236}">
                <a16:creationId xmlns:a16="http://schemas.microsoft.com/office/drawing/2014/main" id="{8DC1D8F0-5E43-49E9-B63C-7C70D951B9D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692" name="Rectangle 12">
            <a:extLst>
              <a:ext uri="{FF2B5EF4-FFF2-40B4-BE49-F238E27FC236}">
                <a16:creationId xmlns:a16="http://schemas.microsoft.com/office/drawing/2014/main" id="{13207381-3542-4958-B91C-8BCCFEE68B9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1693" name="Rectangle 13">
            <a:extLst>
              <a:ext uri="{FF2B5EF4-FFF2-40B4-BE49-F238E27FC236}">
                <a16:creationId xmlns:a16="http://schemas.microsoft.com/office/drawing/2014/main" id="{AF8D5861-E122-43C6-8DA3-95036C91B78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63F10F78-86E7-4FDE-8BE6-E95C4F30ABB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B943C98-4FC2-4461-BD74-2A2A26DD16D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8001000" cy="1143000"/>
          </a:xfrm>
        </p:spPr>
        <p:txBody>
          <a:bodyPr>
            <a:normAutofit fontScale="90000"/>
          </a:bodyPr>
          <a:lstStyle/>
          <a:p>
            <a:pPr eaLnBrk="1" hangingPunct="1"/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r>
              <a:rPr lang="en-US" altLang="en-US" sz="3600" dirty="0" err="1"/>
              <a:t>InsightPilot</a:t>
            </a:r>
            <a:r>
              <a:rPr lang="en-US" altLang="en-US" sz="3600" dirty="0"/>
              <a:t>: An Agentic Platform for Conversational Business Intelligence</a:t>
            </a:r>
            <a:br>
              <a:rPr lang="en-US" altLang="en-US" dirty="0"/>
            </a:br>
            <a:endParaRPr lang="en-US" altLang="en-US" sz="1800" dirty="0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045C08A6-0726-4DAF-9EDE-16183A0219F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581400"/>
            <a:ext cx="6400800" cy="2819400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altLang="en-US" sz="2400" dirty="0"/>
              <a:t>Project Advisor: Professor Vijay Eranti</a:t>
            </a:r>
          </a:p>
          <a:p>
            <a:pPr algn="l" eaLnBrk="1" hangingPunct="1"/>
            <a:r>
              <a:rPr lang="en-US" altLang="en-US" sz="2400" dirty="0"/>
              <a:t>Team Members: Akshay Sunil Navani</a:t>
            </a:r>
          </a:p>
          <a:p>
            <a:pPr algn="l" eaLnBrk="1" hangingPunct="1"/>
            <a:r>
              <a:rPr lang="en-US" altLang="en-US" sz="2400" dirty="0"/>
              <a:t>                        Atharva Nitin Kulkarni</a:t>
            </a:r>
          </a:p>
          <a:p>
            <a:pPr algn="l" eaLnBrk="1" hangingPunct="1"/>
            <a:r>
              <a:rPr lang="en-US" altLang="en-US" sz="2400" dirty="0"/>
              <a:t>                        Pranjal Shrivastava</a:t>
            </a:r>
            <a:br>
              <a:rPr lang="en-US" altLang="en-US" sz="2400" dirty="0"/>
            </a:br>
            <a:r>
              <a:rPr lang="en-US" altLang="en-US" sz="2400" dirty="0"/>
              <a:t>                        Shantanu </a:t>
            </a:r>
            <a:r>
              <a:rPr lang="en-US" altLang="en-US" sz="2400" dirty="0" err="1"/>
              <a:t>Zadbuke</a:t>
            </a:r>
            <a:endParaRPr lang="en-US" altLang="en-US" sz="2400" dirty="0"/>
          </a:p>
          <a:p>
            <a:pPr algn="l" eaLnBrk="1" hangingPunct="1"/>
            <a:r>
              <a:rPr lang="en-US" altLang="en-US" sz="2400" dirty="0"/>
              <a:t>Methodology:     Development</a:t>
            </a:r>
            <a:r>
              <a:rPr lang="en-US" altLang="en-US" sz="1800" dirty="0"/>
              <a:t>	 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FC47C6A0-088A-4EF7-9D14-1C5CFC809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en-US" altLang="en-US"/>
              <a:t>Project Description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3AD9C856-018D-44E0-83BA-4B08BFE05C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2"/>
            <a:ext cx="7772400" cy="4383088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sz="2200" dirty="0"/>
              <a:t>Enterprise analysts answer unanticipated questions by hand, locating sources, inspecting schemas and writing queries</a:t>
            </a:r>
          </a:p>
          <a:p>
            <a:pPr eaLnBrk="1" hangingPunct="1">
              <a:defRPr/>
            </a:pPr>
            <a:r>
              <a:rPr lang="en-US" altLang="en-US" sz="2200" dirty="0"/>
              <a:t>Existing BI assistants are confined to a single pre-defined warehouse and cannot span multiple systems</a:t>
            </a:r>
          </a:p>
          <a:p>
            <a:pPr eaLnBrk="1" hangingPunct="1">
              <a:defRPr/>
            </a:pPr>
            <a:r>
              <a:rPr lang="en-US" altLang="en-US" sz="2200" dirty="0"/>
              <a:t>InsightPilot's orchestrator turns a question into an analysis plan the analyst reviews before any query runs</a:t>
            </a:r>
          </a:p>
          <a:p>
            <a:pPr eaLnBrk="1" hangingPunct="1">
              <a:defRPr/>
            </a:pPr>
            <a:r>
              <a:rPr lang="en-US" altLang="en-US" sz="2200" dirty="0"/>
              <a:t>Four specialist agents fetch, analyze, model and present across relational databases, spreadsheets and web services</a:t>
            </a:r>
          </a:p>
          <a:p>
            <a:pPr eaLnBrk="1" hangingPunct="1">
              <a:defRPr/>
            </a:pPr>
            <a:r>
              <a:rPr lang="en-US" altLang="en-US" sz="2200" dirty="0"/>
              <a:t>Every step records its source, query and rows returned, and a separate check confirms it matched the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CA3D4B6-41A8-4F1B-8FB7-BD0AAB8FF8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en-US" altLang="en-US"/>
              <a:t>Project Deliverables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EEA1B7EA-BBC2-4030-BBBB-CF85D8064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eaLnBrk="1" hangingPunct="1">
              <a:defRPr/>
            </a:pPr>
            <a:r>
              <a:rPr lang="en-US" altLang="en-US" sz="2200" dirty="0"/>
              <a:t>Multi-agent orchestration engine: plan synthesis, dispatch, and replanning when a step fails</a:t>
            </a:r>
          </a:p>
          <a:p>
            <a:pPr eaLnBrk="1" hangingPunct="1">
              <a:defRPr/>
            </a:pPr>
            <a:r>
              <a:rPr lang="en-US" altLang="en-US" sz="2200" dirty="0"/>
              <a:t>Connector layer unifying PostgreSQL, CSV and Excel files, and REST web services behind one interface</a:t>
            </a:r>
          </a:p>
          <a:p>
            <a:pPr eaLnBrk="1" hangingPunct="1">
              <a:defRPr/>
            </a:pPr>
            <a:r>
              <a:rPr lang="en-US" altLang="en-US" sz="2200" dirty="0"/>
              <a:t>Step-level verification and lineage subsystem, with exportable investigation records</a:t>
            </a:r>
          </a:p>
          <a:p>
            <a:pPr eaLnBrk="1" hangingPunct="1">
              <a:defRPr/>
            </a:pPr>
            <a:r>
              <a:rPr lang="en-US" altLang="en-US" sz="2200" dirty="0"/>
              <a:t>Evaluation harness and fixed question set, with multi-step accuracy results published openly</a:t>
            </a:r>
          </a:p>
          <a:p>
            <a:pPr eaLnBrk="1" hangingPunct="1">
              <a:defRPr/>
            </a:pPr>
            <a:r>
              <a:rPr lang="en-US" altLang="en-US" sz="2200" dirty="0"/>
              <a:t>Predictive modeling agent that runs when the question requires it, reporting the methods it used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00866698-6E76-4648-865B-BBF46B5B50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anchor="t"/>
          <a:lstStyle/>
          <a:p>
            <a:pPr eaLnBrk="1" hangingPunct="1"/>
            <a:r>
              <a:rPr lang="en-US" altLang="en-US" sz="3600"/>
              <a:t>Project Dependencies and Concerns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20A81A6-AB77-4265-8923-E1A60D3997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en-US" altLang="en-US" sz="2000" dirty="0"/>
              <a:t>Dependencies</a:t>
            </a:r>
          </a:p>
          <a:p>
            <a:pPr lvl="1" eaLnBrk="1" hangingPunct="1">
              <a:defRPr/>
            </a:pPr>
            <a:r>
              <a:rPr lang="en-US" altLang="en-US" sz="1600" dirty="0"/>
              <a:t>Model access: hosted model APIs to begin with, moving later to a self-hosted open-weight model</a:t>
            </a:r>
          </a:p>
          <a:p>
            <a:pPr lvl="1" eaLnBrk="1" hangingPunct="1">
              <a:defRPr/>
            </a:pPr>
            <a:r>
              <a:rPr lang="en-US" altLang="en-US" sz="1600" dirty="0"/>
              <a:t>A realistic test environment spanning relational databases, spreadsheets and web services</a:t>
            </a:r>
          </a:p>
          <a:p>
            <a:pPr lvl="1" eaLnBrk="1" hangingPunct="1">
              <a:defRPr/>
            </a:pPr>
            <a:r>
              <a:rPr lang="en-US" altLang="en-US" sz="1600" dirty="0"/>
              <a:t>Enterprise analysts available to test whether checking an answer is cheaper than rebuilding it</a:t>
            </a:r>
          </a:p>
          <a:p>
            <a:pPr eaLnBrk="1" hangingPunct="1">
              <a:defRPr/>
            </a:pPr>
            <a:r>
              <a:rPr lang="en-US" altLang="en-US" sz="2000" dirty="0"/>
              <a:t>Concerns</a:t>
            </a:r>
          </a:p>
          <a:p>
            <a:pPr lvl="1" eaLnBrk="1" hangingPunct="1">
              <a:defRPr/>
            </a:pPr>
            <a:r>
              <a:rPr lang="en-US" altLang="en-US" sz="1600" dirty="0"/>
              <a:t>Multi-step data reasoning is the weakest measured capability in the field. Leading agents score roughly 15% on the DABstep hard benchmark, and errors multiply across steps</a:t>
            </a:r>
          </a:p>
          <a:p>
            <a:pPr lvl="1" eaLnBrk="1" hangingPunct="1">
              <a:defRPr/>
            </a:pPr>
            <a:r>
              <a:rPr lang="en-US" altLang="en-US" sz="1600" dirty="0"/>
              <a:t>Checking an answer may cost as much as rebuilding it, which would undermine the premise. This is untested</a:t>
            </a:r>
          </a:p>
          <a:p>
            <a:pPr lvl="1" eaLnBrk="1" hangingPunct="1">
              <a:defRPr/>
            </a:pPr>
            <a:r>
              <a:rPr lang="en-US" altLang="en-US" sz="1600" dirty="0"/>
              <a:t>Self-hosting inference is new ground for us. No team member has served models at scale, and compute availability is not guaranteed</a:t>
            </a:r>
          </a:p>
          <a:p>
            <a:pPr lvl="1" eaLnBrk="1" hangingPunct="1">
              <a:defRPr/>
            </a:pPr>
            <a:r>
              <a:rPr lang="en-US" altLang="en-US" sz="1600" dirty="0"/>
              <a:t>Agent reliability depends on model capability, so a smaller self-hosted model may not sustain the multi-step loop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1784</TotalTime>
  <Words>344</Words>
  <Application>Microsoft Office PowerPoint</Application>
  <PresentationFormat>On-screen Show (4:3)</PresentationFormat>
  <Paragraphs>32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Tahoma</vt:lpstr>
      <vt:lpstr>Times New Roman</vt:lpstr>
      <vt:lpstr>Wingdings</vt:lpstr>
      <vt:lpstr>Blends</vt:lpstr>
      <vt:lpstr>   InsightPilot: An Agentic Platform for Conversational Business Intelligence </vt:lpstr>
      <vt:lpstr>Project Description</vt:lpstr>
      <vt:lpstr>Project Deliverables</vt:lpstr>
      <vt:lpstr>Project Dependencies and Concerns</vt:lpstr>
    </vt:vector>
  </TitlesOfParts>
  <Company>SJSU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MSSE Project Overview</dc:title>
  <dc:subject>CMPE 295A/B</dc:subject>
  <dc:creator>Dan Harkey</dc:creator>
  <cp:lastModifiedBy>Akshay Sunil Navani</cp:lastModifiedBy>
  <cp:revision>72</cp:revision>
  <cp:lastPrinted>1601-01-01T00:00:00Z</cp:lastPrinted>
  <dcterms:created xsi:type="dcterms:W3CDTF">2001-05-31T14:40:59Z</dcterms:created>
  <dcterms:modified xsi:type="dcterms:W3CDTF">2026-09-10T08:16:15Z</dcterms:modified>
</cp:coreProperties>
</file>